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Product Brief, sections Executive Summary, Problem, Product and User Experience, Users; PRD, sections 1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Product Brief, sections Product and User Experience, MVP Scope, Success Criteria; PRD, sections 4.1–4.4 and 8. Screenshots supplied by the project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team account of the build process: Codex combined with the BMad method for ideation, architecture, requirements, epics and user stories; Google AI Studio for implementation using epics-and-user-stories.md.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Placeholder slide based on the AI.WOMEN Hackathon deck: Slide 4 – What makes it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Placeholder slide based on the AI.WOMEN Hackathon deck: Slide 5 –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C6CE01EE-BC7A-4E16-ABFE-88A3BD5106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6007E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89363" y="323850"/>
            <a:ext cx="1633474" cy="561975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AFD63F28-9845-4958-AB2D-E4428E6C8364}"/>
              </a:ext>
            </a:extLst>
          </p:cNvPr>
          <p:cNvSpPr>
            <a:spLocks noGrp="1"/>
          </p:cNvSpPr>
          <p:nvPr/>
        </p:nvSpPr>
        <p:spPr>
          <a:xfrm>
            <a:off x="590550" y="409575"/>
            <a:ext cx="3333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PUBLIC AGENDA MONITOR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3759F46-9EEB-40BA-A13E-E4799E90EE75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8FB1621-1167-43D1-AF53-D3771D9D0C2D}"/>
              </a:ext>
            </a:extLst>
          </p:cNvPr>
          <p:cNvSpPr>
            <a:spLocks noGrp="1"/>
          </p:cNvSpPr>
          <p:nvPr/>
        </p:nvSpPr>
        <p:spPr>
          <a:xfrm>
            <a:off x="590550" y="6296025"/>
            <a:ext cx="10934700" cy="14288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B6A2A01-5444-4DA8-8FA5-4344391B2915}"/>
              </a:ext>
            </a:extLst>
          </p:cNvPr>
          <p:cNvSpPr>
            <a:spLocks noGrp="1"/>
          </p:cNvSpPr>
          <p:nvPr/>
        </p:nvSpPr>
        <p:spPr>
          <a:xfrm>
            <a:off x="590550" y="990600"/>
            <a:ext cx="8763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Public agenda research misses what matters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178637D-E061-47EE-908D-8D9F87B258A8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85725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815"/>
          </a:bodyPr>
          <a:lstStyle/>
          <a:p>
            <a:pPr>
              <a:defRPr sz="135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A two-week editorial agenda from public sources, reviewed by people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826DCAB-0D29-498D-8BCD-DE78F7929870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3143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809"/>
          </a:bodyPr>
          <a:lstStyle/>
          <a:p>
            <a:pPr>
              <a:defRPr sz="1050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1BF8094-3796-44E8-96EA-A26B1666477F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4810125" cy="121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215"/>
          </a:bodyPr>
          <a:lstStyle/>
          <a:p>
            <a:pPr>
              <a:defRPr sz="17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Editorial teams search fragmented public sources manually. Important appointments, court developments, meetings, panels and reports can be missed. Raw results add noise without a trusted hand-off.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34C651F4-447F-491E-86D6-8ECDEF766CDE}"/>
              </a:ext>
            </a:extLst>
          </p:cNvPr>
          <p:cNvSpPr>
            <a:spLocks noGrp="1"/>
          </p:cNvSpPr>
          <p:nvPr/>
        </p:nvSpPr>
        <p:spPr>
          <a:xfrm>
            <a:off x="6048375" y="2343150"/>
            <a:ext cx="4857750" cy="2667000"/>
          </a:xfrm>
          <a:prstGeom prst="roundRect">
            <a:avLst>
              <a:gd name="adj" fmla="val 6429"/>
            </a:avLst>
          </a:prstGeom>
          <a:solidFill>
            <a:srgbClr val="EAF8FD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DA5885C-9017-4566-ABE0-21262E1D7253}"/>
              </a:ext>
            </a:extLst>
          </p:cNvPr>
          <p:cNvSpPr>
            <a:spLocks noGrp="1"/>
          </p:cNvSpPr>
          <p:nvPr/>
        </p:nvSpPr>
        <p:spPr>
          <a:xfrm>
            <a:off x="6400800" y="2628900"/>
            <a:ext cx="1714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905"/>
          </a:bodyPr>
          <a:lstStyle/>
          <a:p>
            <a:pPr>
              <a:defRPr sz="1050" b="1" i="0">
                <a:solidFill>
                  <a:srgbClr val="00A9E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A9E0"/>
                </a:solidFill>
                <a:latin typeface="Arial"/>
                <a:ea typeface="Arial"/>
                <a:cs typeface="Arial"/>
              </a:rPr>
              <a:t>FOR WHOM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6449CBA-699E-4588-8108-BAF4B93D5839}"/>
              </a:ext>
            </a:extLst>
          </p:cNvPr>
          <p:cNvSpPr>
            <a:spLocks noGrp="1"/>
          </p:cNvSpPr>
          <p:nvPr/>
        </p:nvSpPr>
        <p:spPr>
          <a:xfrm>
            <a:off x="6400800" y="30099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913"/>
          </a:bodyPr>
          <a:lstStyle/>
          <a:p>
            <a:pPr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Documentary researchers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920D1EB-6847-42A1-940B-AFFF397D6D08}"/>
              </a:ext>
            </a:extLst>
          </p:cNvPr>
          <p:cNvSpPr>
            <a:spLocks noGrp="1"/>
          </p:cNvSpPr>
          <p:nvPr/>
        </p:nvSpPr>
        <p:spPr>
          <a:xfrm>
            <a:off x="6400800" y="3381375"/>
            <a:ext cx="3857625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3518"/>
          </a:bodyPr>
          <a:lstStyle/>
          <a:p>
            <a:pPr>
              <a:defRPr sz="135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need to review plausible upcoming events quickly and retain editorial control.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A2005912-352B-4D01-8169-E31DF888B86F}"/>
              </a:ext>
            </a:extLst>
          </p:cNvPr>
          <p:cNvSpPr>
            <a:spLocks noGrp="1"/>
          </p:cNvSpPr>
          <p:nvPr/>
        </p:nvSpPr>
        <p:spPr>
          <a:xfrm>
            <a:off x="6400800" y="401955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913"/>
          </a:bodyPr>
          <a:lstStyle/>
          <a:p>
            <a:pPr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Editors and journalists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F089CC7-B4DA-42CD-9CCD-3A9326B211C2}"/>
              </a:ext>
            </a:extLst>
          </p:cNvPr>
          <p:cNvSpPr>
            <a:spLocks noGrp="1"/>
          </p:cNvSpPr>
          <p:nvPr/>
        </p:nvSpPr>
        <p:spPr>
          <a:xfrm>
            <a:off x="6400800" y="4391025"/>
            <a:ext cx="3905250" cy="419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336"/>
          </a:bodyPr>
          <a:lstStyle/>
          <a:p>
            <a:pPr>
              <a:defRPr sz="135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need a compact, trustworthy agenda for coverage planning.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7B4F410-D8E8-4B4D-A3A3-C5B4AC014E1C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952"/>
          </a:bodyPr>
          <a:lstStyle/>
          <a:p>
            <a:pPr>
              <a:defRPr sz="1575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Our focus: one accountable chain from public source to a verified editorial agenda.</a:t>
            </a:r>
          </a:p>
        </p:txBody>
      </p:sp>
    </p:spTree>
    <p:extLst>
      <p:ext uri="{BB962C8B-B14F-4D97-AF65-F5344CB8AC3E}">
        <p14:creationId xmlns:p14="http://schemas.microsoft.com/office/powerpoint/2010/main" val="207686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7">
            <a:extLst>
              <a:ext uri="{FF2B5EF4-FFF2-40B4-BE49-F238E27FC236}">
                <a16:creationId xmlns:a16="http://schemas.microsoft.com/office/drawing/2014/main" id="{3D26ABA6-71B5-4379-86AC-D8507F7907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6007E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89363" y="323850"/>
            <a:ext cx="1633474" cy="561975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030CD368-8A31-4DE0-8EB4-A38EFDDE8B7F}"/>
              </a:ext>
            </a:extLst>
          </p:cNvPr>
          <p:cNvSpPr>
            <a:spLocks noGrp="1"/>
          </p:cNvSpPr>
          <p:nvPr/>
        </p:nvSpPr>
        <p:spPr>
          <a:xfrm>
            <a:off x="590550" y="409575"/>
            <a:ext cx="3333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PUBLIC AGENDA MONITOR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ED7F6DA-F4F5-4FFC-9DC4-4B9FF7618183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01BDC31-5B0C-41FA-89AA-8AD42881712C}"/>
              </a:ext>
            </a:extLst>
          </p:cNvPr>
          <p:cNvSpPr>
            <a:spLocks noGrp="1"/>
          </p:cNvSpPr>
          <p:nvPr/>
        </p:nvSpPr>
        <p:spPr>
          <a:xfrm>
            <a:off x="590550" y="6296025"/>
            <a:ext cx="10934700" cy="14288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C0DDCDB-4976-4325-9971-8C433CE012D9}"/>
              </a:ext>
            </a:extLst>
          </p:cNvPr>
          <p:cNvSpPr>
            <a:spLocks noGrp="1"/>
          </p:cNvSpPr>
          <p:nvPr/>
        </p:nvSpPr>
        <p:spPr>
          <a:xfrm>
            <a:off x="590550" y="990600"/>
            <a:ext cx="8763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Execution &amp; Product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379339C-3EB5-4046-AFCB-13055B73FF20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85725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815"/>
          </a:bodyPr>
          <a:lstStyle/>
          <a:p>
            <a:pPr>
              <a:defRPr sz="135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A working human-in-the-loop workflow from source retrieval to agenda planning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FE4E2C0-895A-4432-BAEF-EA05CA20698F}"/>
              </a:ext>
            </a:extLst>
          </p:cNvPr>
          <p:cNvSpPr>
            <a:spLocks noGrp="1"/>
          </p:cNvSpPr>
          <p:nvPr/>
        </p:nvSpPr>
        <p:spPr>
          <a:xfrm>
            <a:off x="666750" y="2209800"/>
            <a:ext cx="2762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905"/>
          </a:bodyPr>
          <a:lstStyle/>
          <a:p>
            <a:pPr>
              <a:defRPr sz="1050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CORE FEATURE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B25973F-5A6F-471C-8260-25AF819C6E01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3048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444"/>
          </a:bodyPr>
          <a:lstStyle/>
          <a:p>
            <a:pPr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Researchers turn candidate events from official sources into an approved editorial agenda.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D3762EF-E46D-4167-8FFE-977224FF3858}"/>
              </a:ext>
            </a:extLst>
          </p:cNvPr>
          <p:cNvSpPr>
            <a:spLocks noGrp="1"/>
          </p:cNvSpPr>
          <p:nvPr/>
        </p:nvSpPr>
        <p:spPr>
          <a:xfrm>
            <a:off x="4267200" y="2209800"/>
            <a:ext cx="2476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905"/>
          </a:bodyPr>
          <a:lstStyle/>
          <a:p>
            <a:pPr>
              <a:defRPr sz="1050" b="1" i="0">
                <a:solidFill>
                  <a:srgbClr val="00A9E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A9E0"/>
                </a:solidFill>
                <a:latin typeface="Arial"/>
                <a:ea typeface="Arial"/>
                <a:cs typeface="Arial"/>
              </a:rPr>
              <a:t>WORKING NOW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41CF63B-0698-4F41-92E3-3642A255A618}"/>
              </a:ext>
            </a:extLst>
          </p:cNvPr>
          <p:cNvSpPr>
            <a:spLocks noGrp="1"/>
          </p:cNvSpPr>
          <p:nvPr/>
        </p:nvSpPr>
        <p:spPr>
          <a:xfrm>
            <a:off x="4267200" y="2495550"/>
            <a:ext cx="28575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687"/>
          </a:bodyPr>
          <a:lstStyle/>
          <a:p>
            <a:pPr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retrieval, review queue, editable score and comments, plus approval into the Redaktionsagenda.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30968FB-11C5-456C-A22E-C58734B493C5}"/>
              </a:ext>
            </a:extLst>
          </p:cNvPr>
          <p:cNvSpPr>
            <a:spLocks noGrp="1"/>
          </p:cNvSpPr>
          <p:nvPr/>
        </p:nvSpPr>
        <p:spPr>
          <a:xfrm>
            <a:off x="7867650" y="2209800"/>
            <a:ext cx="2762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905"/>
          </a:bodyPr>
          <a:lstStyle/>
          <a:p>
            <a:pPr>
              <a:defRPr sz="1050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MVP BOUNDARIES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E7D007A-8CC4-4D37-8314-27BCD0E72B9D}"/>
              </a:ext>
            </a:extLst>
          </p:cNvPr>
          <p:cNvSpPr>
            <a:spLocks noGrp="1"/>
          </p:cNvSpPr>
          <p:nvPr/>
        </p:nvSpPr>
        <p:spPr>
          <a:xfrm>
            <a:off x="7867650" y="2495550"/>
            <a:ext cx="314325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050"/>
          </a:bodyPr>
          <a:lstStyle/>
          <a:p>
            <a:pPr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adapters are still prototype-grade. Authentication, scheduled retrieval and a trained scoring model remain outside this MVP.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73A6935-9CCA-4F58-A03F-A328EAF8EDC5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905"/>
          </a:bodyPr>
          <a:lstStyle/>
          <a:p>
            <a:pPr>
              <a:defRPr sz="1050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REVIEW QUEUE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0928775-C249-444B-9004-60F497E82DDB}"/>
              </a:ext>
            </a:extLst>
          </p:cNvPr>
          <p:cNvSpPr>
            <a:spLocks noGrp="1"/>
          </p:cNvSpPr>
          <p:nvPr/>
        </p:nvSpPr>
        <p:spPr>
          <a:xfrm>
            <a:off x="6343650" y="3638550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1905"/>
          </a:bodyPr>
          <a:lstStyle/>
          <a:p>
            <a:pPr>
              <a:defRPr sz="1050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EDITOR AGENDA</a:t>
            </a:r>
          </a:p>
        </p:txBody>
      </p:sp>
      <p:pic>
        <p:nvPicPr>
          <p:cNvPr id="33" name="Grafik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56417" y="3905250"/>
            <a:ext cx="3716540" cy="2038350"/>
          </a:xfrm>
          <a:prstGeom prst="roundRect">
            <a:avLst>
              <a:gd name="adj" fmla="val 5607"/>
            </a:avLst>
          </a:prstGeom>
        </p:spPr>
      </p:pic>
      <p:pic>
        <p:nvPicPr>
          <p:cNvPr id="34" name="Grafik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066103" y="3905250"/>
            <a:ext cx="3650969" cy="2038350"/>
          </a:xfrm>
          <a:prstGeom prst="roundRect">
            <a:avLst>
              <a:gd name="adj" fmla="val 5607"/>
            </a:avLst>
          </a:prstGeom>
        </p:spPr>
      </p:pic>
    </p:spTree>
    <p:extLst>
      <p:ext uri="{BB962C8B-B14F-4D97-AF65-F5344CB8AC3E}">
        <p14:creationId xmlns:p14="http://schemas.microsoft.com/office/powerpoint/2010/main" val="35617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hteck 25">
            <a:extLst>
              <a:ext uri="{FF2B5EF4-FFF2-40B4-BE49-F238E27FC236}">
                <a16:creationId xmlns:a16="http://schemas.microsoft.com/office/drawing/2014/main" id="{8623459E-BD00-499E-AD72-F19E9918C3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6007E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27" name="Grafik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89363" y="323850"/>
            <a:ext cx="1633474" cy="561975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63ACE2FE-5CD6-418B-849C-74D01428F0E2}"/>
              </a:ext>
            </a:extLst>
          </p:cNvPr>
          <p:cNvSpPr>
            <a:spLocks noGrp="1"/>
          </p:cNvSpPr>
          <p:nvPr/>
        </p:nvSpPr>
        <p:spPr>
          <a:xfrm>
            <a:off x="590550" y="409575"/>
            <a:ext cx="3333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PUBLIC AGENDA MONITOR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66A2069-3343-49C1-BE73-B9C0676B6637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72D4633-DA57-481F-BD07-99EDC81DD899}"/>
              </a:ext>
            </a:extLst>
          </p:cNvPr>
          <p:cNvSpPr>
            <a:spLocks noGrp="1"/>
          </p:cNvSpPr>
          <p:nvPr/>
        </p:nvSpPr>
        <p:spPr>
          <a:xfrm>
            <a:off x="590550" y="6296025"/>
            <a:ext cx="10934700" cy="14288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F7755C3-2D56-4F85-B055-6A27664128D5}"/>
              </a:ext>
            </a:extLst>
          </p:cNvPr>
          <p:cNvSpPr>
            <a:spLocks noGrp="1"/>
          </p:cNvSpPr>
          <p:nvPr/>
        </p:nvSpPr>
        <p:spPr>
          <a:xfrm>
            <a:off x="590550" y="990600"/>
            <a:ext cx="8763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How we built the prototype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FA88A72-F784-4B50-8EE0-9325E1D75868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85725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815"/>
          </a:bodyPr>
          <a:lstStyle/>
          <a:p>
            <a:pPr>
              <a:defRPr sz="135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Codex and the BMad method turned an idea into an implementation-ready plan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E05C15F8-FCFD-4CFF-81A2-2C4E4AFBCD10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2190750" cy="219075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D5F3AFC-D83B-4E73-84CA-F86BEDCC30E5}"/>
              </a:ext>
            </a:extLst>
          </p:cNvPr>
          <p:cNvSpPr>
            <a:spLocks noGrp="1"/>
          </p:cNvSpPr>
          <p:nvPr/>
        </p:nvSpPr>
        <p:spPr>
          <a:xfrm>
            <a:off x="876300" y="2800350"/>
            <a:ext cx="685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>
              <a:defRPr sz="1125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D2EF21A-72FA-459D-B4D6-10A5EAE22428}"/>
              </a:ext>
            </a:extLst>
          </p:cNvPr>
          <p:cNvSpPr>
            <a:spLocks noGrp="1"/>
          </p:cNvSpPr>
          <p:nvPr/>
        </p:nvSpPr>
        <p:spPr>
          <a:xfrm>
            <a:off x="876300" y="3209925"/>
            <a:ext cx="1762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778"/>
          </a:bodyPr>
          <a:lstStyle/>
          <a:p>
            <a:pPr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Ideation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3B5DABA-B039-4BCB-98B1-A20A3EE35452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1762125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Codex + BMad</a:t>
            </a:r>
          </a:p>
          <a:p>
            <a:pPr>
              <a:defRPr sz="12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Explore the problem, users and product brief.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3E9B94B5-ED57-4F3B-8C4D-BD461C27AB75}"/>
              </a:ext>
            </a:extLst>
          </p:cNvPr>
          <p:cNvSpPr>
            <a:spLocks noGrp="1"/>
          </p:cNvSpPr>
          <p:nvPr/>
        </p:nvSpPr>
        <p:spPr>
          <a:xfrm>
            <a:off x="3333750" y="2571750"/>
            <a:ext cx="2190750" cy="219075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8D2255-E199-4E03-93D8-8BBF7372762D}"/>
              </a:ext>
            </a:extLst>
          </p:cNvPr>
          <p:cNvSpPr>
            <a:spLocks noGrp="1"/>
          </p:cNvSpPr>
          <p:nvPr/>
        </p:nvSpPr>
        <p:spPr>
          <a:xfrm>
            <a:off x="3543300" y="2800350"/>
            <a:ext cx="685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>
              <a:defRPr sz="1125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3EFD560-CA77-48A9-A48A-B6EE18AC6E50}"/>
              </a:ext>
            </a:extLst>
          </p:cNvPr>
          <p:cNvSpPr>
            <a:spLocks noGrp="1"/>
          </p:cNvSpPr>
          <p:nvPr/>
        </p:nvSpPr>
        <p:spPr>
          <a:xfrm>
            <a:off x="3543300" y="3209925"/>
            <a:ext cx="1762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778"/>
          </a:bodyPr>
          <a:lstStyle/>
          <a:p>
            <a:pPr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8A6D1BA-9A0D-4C9C-A0DE-80F9A59C8DD3}"/>
              </a:ext>
            </a:extLst>
          </p:cNvPr>
          <p:cNvSpPr>
            <a:spLocks noGrp="1"/>
          </p:cNvSpPr>
          <p:nvPr/>
        </p:nvSpPr>
        <p:spPr>
          <a:xfrm>
            <a:off x="3543300" y="3705225"/>
            <a:ext cx="1762125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Draft the solution architecture and define the product boundaries.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C0DEF426-888C-46ED-A268-F53893859017}"/>
              </a:ext>
            </a:extLst>
          </p:cNvPr>
          <p:cNvSpPr>
            <a:spLocks noGrp="1"/>
          </p:cNvSpPr>
          <p:nvPr/>
        </p:nvSpPr>
        <p:spPr>
          <a:xfrm>
            <a:off x="6000750" y="2571750"/>
            <a:ext cx="2190750" cy="2190750"/>
          </a:xfrm>
          <a:prstGeom prst="roundRect">
            <a:avLst>
              <a:gd name="adj" fmla="val 6957"/>
            </a:avLst>
          </a:prstGeom>
          <a:solidFill>
            <a:srgbClr val="F7F7F7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061439A-EA36-413C-ACD0-47C1DEB97B58}"/>
              </a:ext>
            </a:extLst>
          </p:cNvPr>
          <p:cNvSpPr>
            <a:spLocks noGrp="1"/>
          </p:cNvSpPr>
          <p:nvPr/>
        </p:nvSpPr>
        <p:spPr>
          <a:xfrm>
            <a:off x="6210300" y="2800350"/>
            <a:ext cx="685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>
              <a:defRPr sz="1125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E935E4D3-7F39-4E2E-854C-202854E65DD8}"/>
              </a:ext>
            </a:extLst>
          </p:cNvPr>
          <p:cNvSpPr>
            <a:spLocks noGrp="1"/>
          </p:cNvSpPr>
          <p:nvPr/>
        </p:nvSpPr>
        <p:spPr>
          <a:xfrm>
            <a:off x="6210300" y="3209925"/>
            <a:ext cx="1762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778"/>
          </a:bodyPr>
          <a:lstStyle/>
          <a:p>
            <a:pPr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Requirements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FED4C7F-1E89-4183-8B35-A3E449048257}"/>
              </a:ext>
            </a:extLst>
          </p:cNvPr>
          <p:cNvSpPr>
            <a:spLocks noGrp="1"/>
          </p:cNvSpPr>
          <p:nvPr/>
        </p:nvSpPr>
        <p:spPr>
          <a:xfrm>
            <a:off x="6210300" y="3705225"/>
            <a:ext cx="1762125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Create requirements, epics and user stories for the MVP.</a:t>
            </a: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3B878247-DF29-4F4A-B599-920A51099A8C}"/>
              </a:ext>
            </a:extLst>
          </p:cNvPr>
          <p:cNvSpPr>
            <a:spLocks noGrp="1"/>
          </p:cNvSpPr>
          <p:nvPr/>
        </p:nvSpPr>
        <p:spPr>
          <a:xfrm>
            <a:off x="8667750" y="2571750"/>
            <a:ext cx="2190750" cy="2190750"/>
          </a:xfrm>
          <a:prstGeom prst="roundRect">
            <a:avLst>
              <a:gd name="adj" fmla="val 6957"/>
            </a:avLst>
          </a:prstGeom>
          <a:solidFill>
            <a:srgbClr val="EAF8FD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73B75E7-6464-4A9B-8413-D1276CAADA42}"/>
              </a:ext>
            </a:extLst>
          </p:cNvPr>
          <p:cNvSpPr>
            <a:spLocks noGrp="1"/>
          </p:cNvSpPr>
          <p:nvPr/>
        </p:nvSpPr>
        <p:spPr>
          <a:xfrm>
            <a:off x="8877300" y="2800350"/>
            <a:ext cx="6858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0000"/>
          </a:bodyPr>
          <a:lstStyle/>
          <a:p>
            <a:pPr>
              <a:defRPr sz="1125" b="1" i="0">
                <a:solidFill>
                  <a:srgbClr val="00A9E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A9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8235D15-5C5B-4672-92F4-2A8DDC7F3197}"/>
              </a:ext>
            </a:extLst>
          </p:cNvPr>
          <p:cNvSpPr>
            <a:spLocks noGrp="1"/>
          </p:cNvSpPr>
          <p:nvPr/>
        </p:nvSpPr>
        <p:spPr>
          <a:xfrm>
            <a:off x="8877300" y="3209925"/>
            <a:ext cx="176212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778"/>
          </a:bodyPr>
          <a:lstStyle/>
          <a:p>
            <a:pPr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38FB6A1D-D786-46BB-AFB9-BEF6B47D8DC5}"/>
              </a:ext>
            </a:extLst>
          </p:cNvPr>
          <p:cNvSpPr>
            <a:spLocks noGrp="1"/>
          </p:cNvSpPr>
          <p:nvPr/>
        </p:nvSpPr>
        <p:spPr>
          <a:xfrm>
            <a:off x="8877300" y="3705225"/>
            <a:ext cx="1762125" cy="895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745"/>
          </a:bodyPr>
          <a:lstStyle/>
          <a:p>
            <a:pPr>
              <a:defRPr sz="12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Move</a:t>
            </a:r>
          </a:p>
          <a:p>
            <a:pPr>
              <a:defRPr sz="12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epics-and-user-</a:t>
            </a:r>
          </a:p>
          <a:p>
            <a:pPr>
              <a:defRPr sz="12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stories.md into</a:t>
            </a:r>
          </a:p>
          <a:p>
            <a:pPr>
              <a:defRPr sz="12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Google AI Studio to</a:t>
            </a:r>
          </a:p>
          <a:p>
            <a:pPr>
              <a:defRPr sz="12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implement the app.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CDCFCD2-9712-45C9-9859-D548AC8FE888}"/>
              </a:ext>
            </a:extLst>
          </p:cNvPr>
          <p:cNvSpPr>
            <a:spLocks noGrp="1"/>
          </p:cNvSpPr>
          <p:nvPr/>
        </p:nvSpPr>
        <p:spPr>
          <a:xfrm>
            <a:off x="666750" y="5276850"/>
            <a:ext cx="7239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273"/>
          </a:bodyPr>
          <a:lstStyle/>
          <a:p>
            <a:pPr>
              <a:defRPr sz="1650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Hand-off artifact: epics-and-user-stories.md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1068722-4C8D-413D-9C1C-7C850835F6C5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876300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7544"/>
          </a:bodyPr>
          <a:lstStyle/>
          <a:p>
            <a:pPr>
              <a:defRPr sz="142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The structured plan gave Google AI Studio a clear implementation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126950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1FFCDA25-480B-47B8-9B3F-D503975429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6007E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89363" y="323850"/>
            <a:ext cx="1633474" cy="561975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34D8365F-9283-4419-AEA7-04719AD53A63}"/>
              </a:ext>
            </a:extLst>
          </p:cNvPr>
          <p:cNvSpPr>
            <a:spLocks noGrp="1"/>
          </p:cNvSpPr>
          <p:nvPr/>
        </p:nvSpPr>
        <p:spPr>
          <a:xfrm>
            <a:off x="590550" y="409575"/>
            <a:ext cx="3333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PUBLIC AGENDA MONITOR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C10E62C-FECF-4096-BB1F-DAF3E7C1AF09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1F4CBAD-FE72-4AD3-BF80-EBBC2858F81A}"/>
              </a:ext>
            </a:extLst>
          </p:cNvPr>
          <p:cNvSpPr>
            <a:spLocks noGrp="1"/>
          </p:cNvSpPr>
          <p:nvPr/>
        </p:nvSpPr>
        <p:spPr>
          <a:xfrm>
            <a:off x="590550" y="6296025"/>
            <a:ext cx="10934700" cy="14288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D4D630E-6162-49FE-B4FB-C5C527D150C4}"/>
              </a:ext>
            </a:extLst>
          </p:cNvPr>
          <p:cNvSpPr>
            <a:spLocks noGrp="1"/>
          </p:cNvSpPr>
          <p:nvPr/>
        </p:nvSpPr>
        <p:spPr>
          <a:xfrm>
            <a:off x="590550" y="990600"/>
            <a:ext cx="8763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makes it yours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8699CC-AAB6-42B1-8F60-B06A3CAE9326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85725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815"/>
          </a:bodyPr>
          <a:lstStyle/>
          <a:p>
            <a:pPr>
              <a:defRPr sz="135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Add the project’s distinctive angle or solution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579C5AE-2EE7-4B0B-A26F-DAEA02830739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2952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809"/>
          </a:bodyPr>
          <a:lstStyle/>
          <a:p>
            <a:pPr>
              <a:defRPr sz="1050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YOUR ORIGINALITY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2C46FD8-6269-456D-8F8D-5C9A00BE35F1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000"/>
          </a:bodyPr>
          <a:lstStyle/>
          <a:p>
            <a:pPr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should make a judge look twice?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B429C1E-5963-4264-9345-19B3929D0B35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704850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7807"/>
          </a:bodyPr>
          <a:lstStyle/>
          <a:p>
            <a:pPr>
              <a:defRPr sz="165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Use this space for the unexpected part of your approach, a smart workaround, or the perspective that makes Public Agenda Monitor different.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53368357-0C49-46EE-ACAE-AB19B0B9A82B}"/>
              </a:ext>
            </a:extLst>
          </p:cNvPr>
          <p:cNvSpPr>
            <a:spLocks noGrp="1"/>
          </p:cNvSpPr>
          <p:nvPr/>
        </p:nvSpPr>
        <p:spPr>
          <a:xfrm>
            <a:off x="8429625" y="2476500"/>
            <a:ext cx="2190750" cy="2190750"/>
          </a:xfrm>
          <a:prstGeom prst="roundRect">
            <a:avLst>
              <a:gd name="adj" fmla="val 7826"/>
            </a:avLst>
          </a:prstGeom>
          <a:solidFill>
            <a:srgbClr val="EAF8FD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87C80AE-AD8D-46D9-9ABC-B5E77EB2432F}"/>
              </a:ext>
            </a:extLst>
          </p:cNvPr>
          <p:cNvSpPr>
            <a:spLocks noGrp="1"/>
          </p:cNvSpPr>
          <p:nvPr/>
        </p:nvSpPr>
        <p:spPr>
          <a:xfrm>
            <a:off x="8763000" y="3114675"/>
            <a:ext cx="16192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75" b="1" i="0">
                <a:solidFill>
                  <a:srgbClr val="00A9E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A9E0"/>
                </a:solidFill>
                <a:latin typeface="Arial"/>
                <a:ea typeface="Arial"/>
                <a:cs typeface="Arial"/>
              </a:rPr>
              <a:t>Add one</a:t>
            </a:r>
          </a:p>
          <a:p>
            <a:pPr>
              <a:defRPr sz="1875" b="1" i="0">
                <a:solidFill>
                  <a:srgbClr val="00A9E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A9E0"/>
                </a:solidFill>
                <a:latin typeface="Arial"/>
                <a:ea typeface="Arial"/>
                <a:cs typeface="Arial"/>
              </a:rPr>
              <a:t>memorable</a:t>
            </a:r>
          </a:p>
          <a:p>
            <a:pPr>
              <a:defRPr sz="1875" b="1" i="0">
                <a:solidFill>
                  <a:srgbClr val="00A9E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0A9E0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31755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02F07C32-BE25-4FAC-AF8B-81DBF56E9C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6007E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20" name="Grafik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89363" y="323850"/>
            <a:ext cx="1633474" cy="561975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C3DBE0EA-8926-4D7D-94FF-4112DFFD4B06}"/>
              </a:ext>
            </a:extLst>
          </p:cNvPr>
          <p:cNvSpPr>
            <a:spLocks noGrp="1"/>
          </p:cNvSpPr>
          <p:nvPr/>
        </p:nvSpPr>
        <p:spPr>
          <a:xfrm>
            <a:off x="590550" y="409575"/>
            <a:ext cx="33337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6667"/>
          </a:bodyPr>
          <a:lstStyle/>
          <a:p>
            <a:pPr>
              <a:defRPr sz="975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PUBLIC AGENDA MONITOR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727C0ED-6AAA-4B92-9ECB-80D0398859E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8100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8333"/>
          </a:bodyPr>
          <a:lstStyle/>
          <a:p>
            <a:pPr>
              <a:defRPr sz="900" b="1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7B513A3-1A48-4ACA-9AA3-6AB9F6E682D6}"/>
              </a:ext>
            </a:extLst>
          </p:cNvPr>
          <p:cNvSpPr>
            <a:spLocks noGrp="1"/>
          </p:cNvSpPr>
          <p:nvPr/>
        </p:nvSpPr>
        <p:spPr>
          <a:xfrm>
            <a:off x="590550" y="6296025"/>
            <a:ext cx="10934700" cy="14288"/>
          </a:xfrm>
          <a:prstGeom prst="rect">
            <a:avLst/>
          </a:prstGeom>
          <a:solidFill>
            <a:srgbClr val="E7E7E7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41EDCD3-33C3-494C-8F95-B55ECF612EB2}"/>
              </a:ext>
            </a:extLst>
          </p:cNvPr>
          <p:cNvSpPr>
            <a:spLocks noGrp="1"/>
          </p:cNvSpPr>
          <p:nvPr/>
        </p:nvSpPr>
        <p:spPr>
          <a:xfrm>
            <a:off x="590550" y="990600"/>
            <a:ext cx="87630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9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team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A16D39A-41CE-4E23-92FE-82F215A2329C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85725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815"/>
          </a:bodyPr>
          <a:lstStyle/>
          <a:p>
            <a:pPr>
              <a:defRPr sz="135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Introduce who worked on the project and how the work came together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0E9574A-ADA0-4FE2-ACC8-C42F4B01127A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356"/>
          </a:bodyPr>
          <a:lstStyle/>
          <a:p>
            <a:pPr>
              <a:defRPr sz="21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Add team members and responsibilities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50B532F-B095-453E-B5E2-48A39657F01A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75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Use names, roles and a short contribution for each person. Keep the focus on the collaboration that shaped the prototype.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B0EE34E2-0D1D-4ECE-82B8-3F10C86F29CC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2857500" cy="933450"/>
          </a:xfrm>
          <a:prstGeom prst="roundRect">
            <a:avLst>
              <a:gd name="adj" fmla="val 12245"/>
            </a:avLst>
          </a:prstGeom>
          <a:solidFill>
            <a:srgbClr val="F7F7F7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B4EEC5E-8027-4C1C-AA4C-C7FE75489C45}"/>
              </a:ext>
            </a:extLst>
          </p:cNvPr>
          <p:cNvSpPr>
            <a:spLocks noGrp="1"/>
          </p:cNvSpPr>
          <p:nvPr/>
        </p:nvSpPr>
        <p:spPr>
          <a:xfrm>
            <a:off x="819150" y="45529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000"/>
          </a:bodyPr>
          <a:lstStyle/>
          <a:p>
            <a:pPr>
              <a:defRPr sz="1500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Name / role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4E4F667-5F7E-453F-8919-D050C179E8C0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4167"/>
          </a:bodyPr>
          <a:lstStyle/>
          <a:p>
            <a:pPr>
              <a:defRPr sz="12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Contribution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29EAA1CB-233D-4B76-96B1-D36EE61F8F57}"/>
              </a:ext>
            </a:extLst>
          </p:cNvPr>
          <p:cNvSpPr>
            <a:spLocks noGrp="1"/>
          </p:cNvSpPr>
          <p:nvPr/>
        </p:nvSpPr>
        <p:spPr>
          <a:xfrm>
            <a:off x="4000500" y="4324350"/>
            <a:ext cx="2857500" cy="933450"/>
          </a:xfrm>
          <a:prstGeom prst="roundRect">
            <a:avLst>
              <a:gd name="adj" fmla="val 12245"/>
            </a:avLst>
          </a:prstGeom>
          <a:solidFill>
            <a:srgbClr val="F7F7F7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00C90F4-875F-4354-994E-CD9CDFDF327B}"/>
              </a:ext>
            </a:extLst>
          </p:cNvPr>
          <p:cNvSpPr>
            <a:spLocks noGrp="1"/>
          </p:cNvSpPr>
          <p:nvPr/>
        </p:nvSpPr>
        <p:spPr>
          <a:xfrm>
            <a:off x="4210050" y="45529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000"/>
          </a:bodyPr>
          <a:lstStyle/>
          <a:p>
            <a:pPr>
              <a:defRPr sz="1500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Name / role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4AAB1E7-1600-431A-A762-5ED75A3EECAB}"/>
              </a:ext>
            </a:extLst>
          </p:cNvPr>
          <p:cNvSpPr>
            <a:spLocks noGrp="1"/>
          </p:cNvSpPr>
          <p:nvPr/>
        </p:nvSpPr>
        <p:spPr>
          <a:xfrm>
            <a:off x="4210050" y="48958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4167"/>
          </a:bodyPr>
          <a:lstStyle/>
          <a:p>
            <a:pPr>
              <a:defRPr sz="12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Contribution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D893DB70-5B18-4A77-9B81-5D95F3B5101F}"/>
              </a:ext>
            </a:extLst>
          </p:cNvPr>
          <p:cNvSpPr>
            <a:spLocks noGrp="1"/>
          </p:cNvSpPr>
          <p:nvPr/>
        </p:nvSpPr>
        <p:spPr>
          <a:xfrm>
            <a:off x="7391400" y="4324350"/>
            <a:ext cx="2857500" cy="933450"/>
          </a:xfrm>
          <a:prstGeom prst="roundRect">
            <a:avLst>
              <a:gd name="adj" fmla="val 12245"/>
            </a:avLst>
          </a:prstGeom>
          <a:solidFill>
            <a:srgbClr val="F7F7F7"/>
          </a:solidFill>
          <a:ln w="0"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36ED3B1-A195-4E08-B5D4-B2AD534D9C69}"/>
              </a:ext>
            </a:extLst>
          </p:cNvPr>
          <p:cNvSpPr>
            <a:spLocks noGrp="1"/>
          </p:cNvSpPr>
          <p:nvPr/>
        </p:nvSpPr>
        <p:spPr>
          <a:xfrm>
            <a:off x="7600950" y="45529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000"/>
          </a:bodyPr>
          <a:lstStyle/>
          <a:p>
            <a:pPr>
              <a:defRPr sz="1500" b="1" i="0">
                <a:solidFill>
                  <a:srgbClr val="E6007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6007E"/>
                </a:solidFill>
                <a:latin typeface="Arial"/>
                <a:ea typeface="Arial"/>
                <a:cs typeface="Arial"/>
              </a:rPr>
              <a:t>Name / role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FDC610E-7B26-48EC-A49D-CC2A60C4B9C4}"/>
              </a:ext>
            </a:extLst>
          </p:cNvPr>
          <p:cNvSpPr>
            <a:spLocks noGrp="1"/>
          </p:cNvSpPr>
          <p:nvPr/>
        </p:nvSpPr>
        <p:spPr>
          <a:xfrm>
            <a:off x="7600950" y="48958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4167"/>
          </a:bodyPr>
          <a:lstStyle/>
          <a:p>
            <a:pPr>
              <a:defRPr sz="1200" b="0" i="0">
                <a:solidFill>
                  <a:srgbClr val="5A5A5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A5A5A"/>
                </a:solidFill>
                <a:latin typeface="Arial"/>
                <a:ea typeface="Arial"/>
                <a:cs typeface="Arial"/>
              </a:rPr>
              <a:t>Contribution</a:t>
            </a:r>
          </a:p>
        </p:txBody>
      </p:sp>
    </p:spTree>
    <p:extLst>
      <p:ext uri="{BB962C8B-B14F-4D97-AF65-F5344CB8AC3E}">
        <p14:creationId xmlns:p14="http://schemas.microsoft.com/office/powerpoint/2010/main" val="17856403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</Words>
  <Application>Microsoft Macintosh PowerPoint</Application>
  <DocSecurity>0</DocSecurity>
  <PresentationFormat>Breitbild</PresentationFormat>
  <Paragraphs>74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Calibri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Kathrin Wilkes</cp:lastModifiedBy>
  <cp:revision>1</cp:revision>
  <dcterms:created xsi:type="dcterms:W3CDTF">2026-09-13T08:45:46Z</dcterms:created>
  <dcterms:modified xsi:type="dcterms:W3CDTF">2026-09-13T08:52:05Z</dcterms:modified>
</cp:coreProperties>
</file>